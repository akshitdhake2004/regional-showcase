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" charset="1" panose="020B0502020202020204"/>
      <p:regular r:id="rId20"/>
    </p:embeddedFont>
    <p:embeddedFont>
      <p:font typeface="Arial Bold" charset="1" panose="020B0802020202020204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Slides: Prepare a short slide deck (10-12 slides) summarizing the project objectives, methodology, and key results.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you very much for joining this PPT, keep learning.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https://drive.google.com/file/d/1vtwEXI3WTlnnEHP1TaX5NtRCaZII4TwN/view?usp=drive_link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chetantalele/Laundary-Service-Booking-System-" TargetMode="External" Type="http://schemas.openxmlformats.org/officeDocument/2006/relationships/hyperlink"/><Relationship Id="rId4" Target="https://drive.google.com/file/d/13CJyroxc6lkAjn0cs3viQdFRBG2O-o3A/view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Title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25400" y="-244928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40912" y="8936079"/>
            <a:ext cx="9006176" cy="51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Disclaimer: The content is curated for educational purposes only.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20088" y="1977986"/>
            <a:ext cx="13847822" cy="6254830"/>
            <a:chOff x="0" y="0"/>
            <a:chExt cx="18463763" cy="8339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33909"/>
              <a:ext cx="18395951" cy="8272018"/>
            </a:xfrm>
            <a:custGeom>
              <a:avLst/>
              <a:gdLst/>
              <a:ahLst/>
              <a:cxnLst/>
              <a:rect r="r" b="b" t="t" l="l"/>
              <a:pathLst>
                <a:path h="8272018" w="18395951">
                  <a:moveTo>
                    <a:pt x="0" y="673481"/>
                  </a:moveTo>
                  <a:cubicBezTo>
                    <a:pt x="0" y="301498"/>
                    <a:pt x="302895" y="0"/>
                    <a:pt x="676529" y="0"/>
                  </a:cubicBezTo>
                  <a:lnTo>
                    <a:pt x="17719421" y="0"/>
                  </a:lnTo>
                  <a:cubicBezTo>
                    <a:pt x="18093056" y="0"/>
                    <a:pt x="18395951" y="301498"/>
                    <a:pt x="18395951" y="673481"/>
                  </a:cubicBezTo>
                  <a:lnTo>
                    <a:pt x="18395951" y="7598537"/>
                  </a:lnTo>
                  <a:cubicBezTo>
                    <a:pt x="18395951" y="7970519"/>
                    <a:pt x="18093056" y="8272018"/>
                    <a:pt x="17719421" y="8272018"/>
                  </a:cubicBezTo>
                  <a:lnTo>
                    <a:pt x="676529" y="8272018"/>
                  </a:lnTo>
                  <a:cubicBezTo>
                    <a:pt x="302895" y="8272018"/>
                    <a:pt x="0" y="7970519"/>
                    <a:pt x="0" y="7598537"/>
                  </a:cubicBezTo>
                  <a:close/>
                </a:path>
              </a:pathLst>
            </a:custGeom>
            <a:solidFill>
              <a:srgbClr val="E5EE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463769" cy="8339836"/>
            </a:xfrm>
            <a:custGeom>
              <a:avLst/>
              <a:gdLst/>
              <a:ahLst/>
              <a:cxnLst/>
              <a:rect r="r" b="b" t="t" l="l"/>
              <a:pathLst>
                <a:path h="8339836" w="18463769">
                  <a:moveTo>
                    <a:pt x="0" y="707390"/>
                  </a:moveTo>
                  <a:cubicBezTo>
                    <a:pt x="0" y="316611"/>
                    <a:pt x="318262" y="0"/>
                    <a:pt x="710438" y="0"/>
                  </a:cubicBezTo>
                  <a:lnTo>
                    <a:pt x="17753330" y="0"/>
                  </a:lnTo>
                  <a:lnTo>
                    <a:pt x="17753330" y="33909"/>
                  </a:lnTo>
                  <a:lnTo>
                    <a:pt x="17753330" y="0"/>
                  </a:lnTo>
                  <a:cubicBezTo>
                    <a:pt x="18145506" y="0"/>
                    <a:pt x="18463769" y="316611"/>
                    <a:pt x="18463769" y="707390"/>
                  </a:cubicBezTo>
                  <a:lnTo>
                    <a:pt x="18429860" y="707390"/>
                  </a:lnTo>
                  <a:lnTo>
                    <a:pt x="18463769" y="707390"/>
                  </a:lnTo>
                  <a:lnTo>
                    <a:pt x="18463769" y="7632446"/>
                  </a:lnTo>
                  <a:lnTo>
                    <a:pt x="18429860" y="7632446"/>
                  </a:lnTo>
                  <a:lnTo>
                    <a:pt x="18463769" y="7632446"/>
                  </a:lnTo>
                  <a:cubicBezTo>
                    <a:pt x="18463769" y="8023225"/>
                    <a:pt x="18145506" y="8339836"/>
                    <a:pt x="17753330" y="8339836"/>
                  </a:cubicBezTo>
                  <a:lnTo>
                    <a:pt x="17753330" y="8305927"/>
                  </a:lnTo>
                  <a:lnTo>
                    <a:pt x="17753330" y="8339836"/>
                  </a:lnTo>
                  <a:lnTo>
                    <a:pt x="710438" y="8339836"/>
                  </a:lnTo>
                  <a:lnTo>
                    <a:pt x="710438" y="8305927"/>
                  </a:lnTo>
                  <a:lnTo>
                    <a:pt x="710438" y="8339836"/>
                  </a:lnTo>
                  <a:cubicBezTo>
                    <a:pt x="318262" y="8339836"/>
                    <a:pt x="0" y="8023225"/>
                    <a:pt x="0" y="7632446"/>
                  </a:cubicBezTo>
                  <a:lnTo>
                    <a:pt x="0" y="707390"/>
                  </a:lnTo>
                  <a:lnTo>
                    <a:pt x="33909" y="707390"/>
                  </a:lnTo>
                  <a:lnTo>
                    <a:pt x="0" y="707390"/>
                  </a:lnTo>
                  <a:moveTo>
                    <a:pt x="67691" y="707390"/>
                  </a:moveTo>
                  <a:lnTo>
                    <a:pt x="67691" y="7632446"/>
                  </a:lnTo>
                  <a:lnTo>
                    <a:pt x="33909" y="7632446"/>
                  </a:lnTo>
                  <a:lnTo>
                    <a:pt x="67691" y="7632446"/>
                  </a:lnTo>
                  <a:cubicBezTo>
                    <a:pt x="67691" y="7985506"/>
                    <a:pt x="355219" y="8272145"/>
                    <a:pt x="710311" y="8272145"/>
                  </a:cubicBezTo>
                  <a:lnTo>
                    <a:pt x="17753330" y="8272145"/>
                  </a:lnTo>
                  <a:cubicBezTo>
                    <a:pt x="18108422" y="8272145"/>
                    <a:pt x="18395950" y="7985633"/>
                    <a:pt x="18395950" y="7632446"/>
                  </a:cubicBezTo>
                  <a:lnTo>
                    <a:pt x="18395950" y="707390"/>
                  </a:lnTo>
                  <a:cubicBezTo>
                    <a:pt x="18395950" y="354330"/>
                    <a:pt x="18108422" y="67691"/>
                    <a:pt x="17753330" y="67691"/>
                  </a:cubicBezTo>
                  <a:lnTo>
                    <a:pt x="710438" y="67691"/>
                  </a:lnTo>
                  <a:lnTo>
                    <a:pt x="710438" y="33909"/>
                  </a:lnTo>
                  <a:lnTo>
                    <a:pt x="710438" y="67691"/>
                  </a:lnTo>
                  <a:cubicBezTo>
                    <a:pt x="355346" y="67691"/>
                    <a:pt x="67818" y="354203"/>
                    <a:pt x="67818" y="707390"/>
                  </a:cubicBezTo>
                  <a:close/>
                </a:path>
              </a:pathLst>
            </a:custGeom>
            <a:solidFill>
              <a:srgbClr val="9BDBFB"/>
            </a:solidFill>
          </p:spPr>
        </p:sp>
      </p:grpSp>
      <p:sp>
        <p:nvSpPr>
          <p:cNvPr name="Freeform 16" id="16" descr="A close up of a sign  Description automatically generated"/>
          <p:cNvSpPr/>
          <p:nvPr/>
        </p:nvSpPr>
        <p:spPr>
          <a:xfrm flipH="false" flipV="false" rot="0">
            <a:off x="9511948" y="3241694"/>
            <a:ext cx="2327956" cy="778220"/>
          </a:xfrm>
          <a:custGeom>
            <a:avLst/>
            <a:gdLst/>
            <a:ahLst/>
            <a:cxnLst/>
            <a:rect r="r" b="b" t="t" l="l"/>
            <a:pathLst>
              <a:path h="778220" w="2327956">
                <a:moveTo>
                  <a:pt x="0" y="0"/>
                </a:moveTo>
                <a:lnTo>
                  <a:pt x="2327956" y="0"/>
                </a:lnTo>
                <a:lnTo>
                  <a:pt x="2327956" y="778220"/>
                </a:lnTo>
                <a:lnTo>
                  <a:pt x="0" y="778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51718" y="3216308"/>
            <a:ext cx="1575550" cy="828994"/>
          </a:xfrm>
          <a:custGeom>
            <a:avLst/>
            <a:gdLst/>
            <a:ahLst/>
            <a:cxnLst/>
            <a:rect r="r" b="b" t="t" l="l"/>
            <a:pathLst>
              <a:path h="828994" w="1575550">
                <a:moveTo>
                  <a:pt x="0" y="0"/>
                </a:moveTo>
                <a:lnTo>
                  <a:pt x="1575550" y="0"/>
                </a:lnTo>
                <a:lnTo>
                  <a:pt x="1575550" y="828994"/>
                </a:lnTo>
                <a:lnTo>
                  <a:pt x="0" y="8289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868" r="0" b="0"/>
            </a:stretch>
          </a:blipFill>
        </p:spPr>
      </p:sp>
      <p:sp>
        <p:nvSpPr>
          <p:cNvPr name="AutoShape 18" id="18"/>
          <p:cNvSpPr/>
          <p:nvPr/>
        </p:nvSpPr>
        <p:spPr>
          <a:xfrm rot="5342714">
            <a:off x="8647977" y="3630805"/>
            <a:ext cx="1143263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342714">
            <a:off x="11560613" y="3630805"/>
            <a:ext cx="1143263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424588" y="3267390"/>
            <a:ext cx="2804762" cy="726828"/>
          </a:xfrm>
          <a:custGeom>
            <a:avLst/>
            <a:gdLst/>
            <a:ahLst/>
            <a:cxnLst/>
            <a:rect r="r" b="b" t="t" l="l"/>
            <a:pathLst>
              <a:path h="726828" w="2804762">
                <a:moveTo>
                  <a:pt x="0" y="0"/>
                </a:moveTo>
                <a:lnTo>
                  <a:pt x="2804762" y="0"/>
                </a:lnTo>
                <a:lnTo>
                  <a:pt x="2804762" y="726828"/>
                </a:lnTo>
                <a:lnTo>
                  <a:pt x="0" y="726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53" t="0" r="-2753" b="0"/>
            </a:stretch>
          </a:blipFill>
        </p:spPr>
      </p:sp>
      <p:sp>
        <p:nvSpPr>
          <p:cNvPr name="AutoShape 21" id="21"/>
          <p:cNvSpPr/>
          <p:nvPr/>
        </p:nvSpPr>
        <p:spPr>
          <a:xfrm rot="5342714">
            <a:off x="6487747" y="3630805"/>
            <a:ext cx="1143263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 descr="A blue and black text  Description automatically generated"/>
          <p:cNvSpPr/>
          <p:nvPr/>
        </p:nvSpPr>
        <p:spPr>
          <a:xfrm flipH="false" flipV="false" rot="0">
            <a:off x="3134526" y="2990764"/>
            <a:ext cx="3632512" cy="908128"/>
          </a:xfrm>
          <a:custGeom>
            <a:avLst/>
            <a:gdLst/>
            <a:ahLst/>
            <a:cxnLst/>
            <a:rect r="r" b="b" t="t" l="l"/>
            <a:pathLst>
              <a:path h="908128" w="3632512">
                <a:moveTo>
                  <a:pt x="0" y="0"/>
                </a:moveTo>
                <a:lnTo>
                  <a:pt x="3632512" y="0"/>
                </a:lnTo>
                <a:lnTo>
                  <a:pt x="3632512" y="908128"/>
                </a:lnTo>
                <a:lnTo>
                  <a:pt x="0" y="9081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715371" y="4249779"/>
            <a:ext cx="12857256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:  1 Akshit Jayesh Dhake           [Akshit.dhake@mitaoe.ac.in] 		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2 Harshwardhan Waydande   [harshwardhan.waydande@mitaoe.ac.in]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Chetan Sapkal                     [chetan.sapkal@mitaoe.ac.in]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4 Chetan Talele                      [chetan.talele@mitaoe.ac.in]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 Guide: Hrishikesh Mahure</a:t>
            </a: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744" y="1147336"/>
            <a:ext cx="9065552" cy="9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OUTLINE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9756" y="1842066"/>
            <a:ext cx="13687294" cy="707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 of the Project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Demo of the Project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Embedded Video of Project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algn="l" marL="868680" indent="-434340" lvl="1">
              <a:lnSpc>
                <a:spcPts val="6984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40" y="840520"/>
            <a:ext cx="16858320" cy="114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Abstract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201" y="1505267"/>
            <a:ext cx="17030959" cy="598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8091"/>
              </a:lnSpc>
              <a:buFont typeface="Arial"/>
              <a:buChar char="•"/>
            </a:pP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onnects users with laundry service providers.</a:t>
            </a:r>
          </a:p>
          <a:p>
            <a:pPr algn="l" marL="734059" indent="-367030" lvl="1">
              <a:lnSpc>
                <a:spcPts val="8091"/>
              </a:lnSpc>
              <a:buFont typeface="Arial"/>
              <a:buChar char="•"/>
            </a:pP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Users can browse, compare, and order services.</a:t>
            </a:r>
          </a:p>
          <a:p>
            <a:pPr algn="l" marL="734059" indent="-367030" lvl="1">
              <a:lnSpc>
                <a:spcPts val="8091"/>
              </a:lnSpc>
              <a:buFont typeface="Arial"/>
              <a:buChar char="•"/>
            </a:pP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roviders can list and manage orders.</a:t>
            </a:r>
          </a:p>
          <a:p>
            <a:pPr algn="l" marL="734059" indent="-367030" lvl="1">
              <a:lnSpc>
                <a:spcPts val="8091"/>
              </a:lnSpc>
              <a:buFont typeface="Arial"/>
              <a:buChar char="•"/>
            </a:pP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implifies access to laundry services.</a:t>
            </a:r>
          </a:p>
          <a:p>
            <a:pPr algn="l" marL="734059" indent="-367030" lvl="1">
              <a:lnSpc>
                <a:spcPts val="8091"/>
              </a:lnSpc>
              <a:buFont typeface="Arial"/>
              <a:buChar char="•"/>
            </a:pPr>
            <a:r>
              <a:rPr lang="en-US" sz="3399">
                <a:solidFill>
                  <a:srgbClr val="002060"/>
                </a:solidFill>
                <a:latin typeface="Canva Sans"/>
                <a:ea typeface="Canva Sans"/>
                <a:cs typeface="Canva Sans"/>
                <a:sym typeface="Canva Sans"/>
              </a:rPr>
              <a:t>Improves operational efficiency for both users and providers.</a:t>
            </a:r>
          </a:p>
          <a:p>
            <a:pPr algn="l">
              <a:lnSpc>
                <a:spcPts val="809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25" y="886225"/>
            <a:ext cx="16858350" cy="10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  <a:r>
              <a:rPr lang="en-US" sz="4800" b="true">
                <a:solidFill>
                  <a:srgbClr val="FFAB4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0688" y="4305300"/>
            <a:ext cx="12975422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struggle to find and manage laundry services, and providers have difficulty managing orders. A centralized platform is needed to simplify access and streamline order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40" y="840520"/>
            <a:ext cx="16858320" cy="114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861" y="1923055"/>
            <a:ext cx="16675215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Laundry Service Provider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List services and pricing.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 orders with a dashboard.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update orders in real-time.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 operations and resources.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ompare services b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pric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ocation.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rder e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ily 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via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 intuitive interface.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orders in real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3740" y="839470"/>
            <a:ext cx="16860520" cy="11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System Architecture</a:t>
            </a:r>
          </a:p>
        </p:txBody>
      </p:sp>
      <p:sp>
        <p:nvSpPr>
          <p:cNvPr name="Freeform 12" id="12">
            <a:hlinkClick r:id="rId4" tooltip="https://drive.google.com/file/d/1vtwEXI3WTlnnEHP1TaX5NtRCaZII4TwN/view?usp=drive_link"/>
          </p:cNvPr>
          <p:cNvSpPr/>
          <p:nvPr/>
        </p:nvSpPr>
        <p:spPr>
          <a:xfrm flipH="false" flipV="false" rot="0">
            <a:off x="6818272" y="1189802"/>
            <a:ext cx="11237500" cy="8425095"/>
          </a:xfrm>
          <a:custGeom>
            <a:avLst/>
            <a:gdLst/>
            <a:ahLst/>
            <a:cxnLst/>
            <a:rect r="r" b="b" t="t" l="l"/>
            <a:pathLst>
              <a:path h="8425095" w="11237500">
                <a:moveTo>
                  <a:pt x="0" y="0"/>
                </a:moveTo>
                <a:lnTo>
                  <a:pt x="11237500" y="0"/>
                </a:lnTo>
                <a:lnTo>
                  <a:pt x="11237500" y="8425096"/>
                </a:lnTo>
                <a:lnTo>
                  <a:pt x="0" y="8425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718" t="-71438" r="0" b="-9544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40" y="840520"/>
            <a:ext cx="16858320" cy="9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Live Demo of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3284" y="2092696"/>
            <a:ext cx="1685832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7" indent="-356233" lvl="1">
              <a:lnSpc>
                <a:spcPts val="3959"/>
              </a:lnSpc>
              <a:buAutoNum type="arabicPeriod" startAt="1"/>
            </a:pPr>
            <a:r>
              <a:rPr lang="en-US" sz="3299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  <a:hlinkClick r:id="rId3" tooltip="https://github.com/chetantalele/Laundary-Service-Booking-System-"/>
              </a:rPr>
              <a:t>Project Live</a:t>
            </a:r>
          </a:p>
          <a:p>
            <a:pPr algn="just" marL="712467" indent="-356233" lvl="1">
              <a:lnSpc>
                <a:spcPts val="3959"/>
              </a:lnSpc>
              <a:buAutoNum type="arabicPeriod" startAt="1"/>
            </a:pPr>
            <a:r>
              <a:rPr lang="en-US" sz="3299" u="sng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  <a:hlinkClick r:id="rId4" tooltip="https://drive.google.com/file/d/13CJyroxc6lkAjn0cs3viQdFRBG2O-o3A/view"/>
              </a:rPr>
              <a:t>Project video</a:t>
            </a:r>
          </a:p>
          <a:p>
            <a:pPr algn="ctr">
              <a:lnSpc>
                <a:spcPts val="3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40" y="840520"/>
            <a:ext cx="16858320" cy="114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9655" y="1656355"/>
            <a:ext cx="12827541" cy="503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4792" indent="-352396" lvl="1">
              <a:lnSpc>
                <a:spcPts val="8063"/>
              </a:lnSpc>
              <a:buFont typeface="Arial"/>
              <a:buChar char="•"/>
            </a:pPr>
            <a:r>
              <a:rPr lang="en-US" sz="3264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Centralized platform connecting users and service providers.</a:t>
            </a:r>
          </a:p>
          <a:p>
            <a:pPr algn="just" marL="704792" indent="-352396" lvl="1">
              <a:lnSpc>
                <a:spcPts val="8063"/>
              </a:lnSpc>
              <a:buFont typeface="Arial"/>
              <a:buChar char="•"/>
            </a:pPr>
            <a:r>
              <a:rPr lang="en-US" sz="3264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Simplifies access and streamlines order management.</a:t>
            </a:r>
          </a:p>
          <a:p>
            <a:pPr algn="just" marL="704792" indent="-352396" lvl="1">
              <a:lnSpc>
                <a:spcPts val="8063"/>
              </a:lnSpc>
              <a:buFont typeface="Arial"/>
              <a:buChar char="•"/>
            </a:pPr>
            <a:r>
              <a:rPr lang="en-US" sz="3264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Enhances user experience and operational workflow.</a:t>
            </a:r>
          </a:p>
          <a:p>
            <a:pPr algn="just" marL="704792" indent="-352396" lvl="1">
              <a:lnSpc>
                <a:spcPts val="8063"/>
              </a:lnSpc>
              <a:buFont typeface="Arial"/>
              <a:buChar char="•"/>
            </a:pPr>
            <a:r>
              <a:rPr lang="en-US" sz="3264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Promotes efficiency and customer satisfaction.</a:t>
            </a:r>
          </a:p>
          <a:p>
            <a:pPr algn="just">
              <a:lnSpc>
                <a:spcPts val="806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40" y="840520"/>
            <a:ext cx="16858320" cy="114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Future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0626" y="2614254"/>
            <a:ext cx="18007374" cy="35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Integrati</a:t>
            </a:r>
            <a:r>
              <a:rPr lang="en-US" b="true" sz="2899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on with Payment Gateways: Adding secure online payment options for a seamless transaction experience.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26109" indent="-313054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Mobile Application Development: Expanding to mobile platforms for greater accessibility.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  <a:p>
            <a:pPr algn="l" marL="626109" indent="-313054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002060"/>
                </a:solidFill>
                <a:latin typeface="Arial Bold"/>
                <a:ea typeface="Arial Bold"/>
                <a:cs typeface="Arial Bold"/>
                <a:sym typeface="Arial Bold"/>
              </a:rPr>
              <a:t>Feedback Mechanism: Introducing a review and rating system to enhance service quality and customer satisfaction.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4825" y="895750"/>
            <a:ext cx="1685835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0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4390" y="2140698"/>
            <a:ext cx="15000828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[1]. S. V. Katti and M. S. Barot, "Online Laundry Service Application," International Journal of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Scientific Research in Computer Science, Engineering and Information Technology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(IJSRCSEIT), vol. 2, no. 1, pp. 281–286, Jan.–Feb. 2017.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[2].  https://tumbledry.in/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[3].  https://uclean.in/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[4].  https://laundrokart.com/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[5].  https://laundrymate.in/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398" y="-183184"/>
            <a:ext cx="14227248" cy="985378"/>
            <a:chOff x="0" y="0"/>
            <a:chExt cx="18969664" cy="1313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18901918" cy="1246124"/>
            </a:xfrm>
            <a:custGeom>
              <a:avLst/>
              <a:gdLst/>
              <a:ahLst/>
              <a:cxnLst/>
              <a:rect r="r" b="b" t="t" l="l"/>
              <a:pathLst>
                <a:path h="1246124" w="18901918">
                  <a:moveTo>
                    <a:pt x="0" y="0"/>
                  </a:moveTo>
                  <a:lnTo>
                    <a:pt x="18901918" y="0"/>
                  </a:lnTo>
                  <a:lnTo>
                    <a:pt x="18901918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9737" cy="1313942"/>
            </a:xfrm>
            <a:custGeom>
              <a:avLst/>
              <a:gdLst/>
              <a:ahLst/>
              <a:cxnLst/>
              <a:rect r="r" b="b" t="t" l="l"/>
              <a:pathLst>
                <a:path h="1313942" w="18969737">
                  <a:moveTo>
                    <a:pt x="33909" y="0"/>
                  </a:moveTo>
                  <a:lnTo>
                    <a:pt x="18935827" y="0"/>
                  </a:lnTo>
                  <a:cubicBezTo>
                    <a:pt x="18954496" y="0"/>
                    <a:pt x="18969737" y="15113"/>
                    <a:pt x="18969737" y="33909"/>
                  </a:cubicBezTo>
                  <a:lnTo>
                    <a:pt x="18969737" y="1280033"/>
                  </a:lnTo>
                  <a:cubicBezTo>
                    <a:pt x="18969737" y="1298702"/>
                    <a:pt x="18954623" y="1313942"/>
                    <a:pt x="18935827" y="1313942"/>
                  </a:cubicBezTo>
                  <a:lnTo>
                    <a:pt x="33909" y="1313942"/>
                  </a:lnTo>
                  <a:cubicBezTo>
                    <a:pt x="15240" y="1313942"/>
                    <a:pt x="0" y="1298829"/>
                    <a:pt x="0" y="1280033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280033"/>
                  </a:lnTo>
                  <a:lnTo>
                    <a:pt x="33909" y="1280033"/>
                  </a:lnTo>
                  <a:lnTo>
                    <a:pt x="33909" y="1246124"/>
                  </a:lnTo>
                  <a:lnTo>
                    <a:pt x="18935827" y="1246124"/>
                  </a:lnTo>
                  <a:lnTo>
                    <a:pt x="18935827" y="1280033"/>
                  </a:lnTo>
                  <a:lnTo>
                    <a:pt x="18901918" y="1280033"/>
                  </a:lnTo>
                  <a:lnTo>
                    <a:pt x="18901918" y="33909"/>
                  </a:lnTo>
                  <a:lnTo>
                    <a:pt x="18935827" y="33909"/>
                  </a:lnTo>
                  <a:lnTo>
                    <a:pt x="1893582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233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69664" cy="137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Laundry Service Booking System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0122"/>
            <a:ext cx="18288000" cy="416878"/>
            <a:chOff x="0" y="0"/>
            <a:chExt cx="24384000" cy="5558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555879"/>
            </a:xfrm>
            <a:custGeom>
              <a:avLst/>
              <a:gdLst/>
              <a:ahLst/>
              <a:cxnLst/>
              <a:rect r="r" b="b" t="t" l="l"/>
              <a:pathLst>
                <a:path h="55587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55879"/>
                  </a:lnTo>
                  <a:lnTo>
                    <a:pt x="0" y="555879"/>
                  </a:lnTo>
                  <a:close/>
                </a:path>
              </a:pathLst>
            </a:custGeom>
            <a:solidFill>
              <a:srgbClr val="85191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70616" y="58058"/>
            <a:ext cx="2490988" cy="810176"/>
          </a:xfrm>
          <a:custGeom>
            <a:avLst/>
            <a:gdLst/>
            <a:ahLst/>
            <a:cxnLst/>
            <a:rect r="r" b="b" t="t" l="l"/>
            <a:pathLst>
              <a:path h="810176" w="2490988">
                <a:moveTo>
                  <a:pt x="0" y="0"/>
                </a:moveTo>
                <a:lnTo>
                  <a:pt x="2490988" y="0"/>
                </a:lnTo>
                <a:lnTo>
                  <a:pt x="2490988" y="810176"/>
                </a:lnTo>
                <a:lnTo>
                  <a:pt x="0" y="810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055772" y="0"/>
            <a:ext cx="232228" cy="934578"/>
            <a:chOff x="0" y="0"/>
            <a:chExt cx="309637" cy="12461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626" cy="1246124"/>
            </a:xfrm>
            <a:custGeom>
              <a:avLst/>
              <a:gdLst/>
              <a:ahLst/>
              <a:cxnLst/>
              <a:rect r="r" b="b" t="t" l="l"/>
              <a:pathLst>
                <a:path h="1246124" w="309626">
                  <a:moveTo>
                    <a:pt x="0" y="0"/>
                  </a:moveTo>
                  <a:lnTo>
                    <a:pt x="309626" y="0"/>
                  </a:lnTo>
                  <a:lnTo>
                    <a:pt x="309626" y="1246124"/>
                  </a:lnTo>
                  <a:lnTo>
                    <a:pt x="0" y="1246124"/>
                  </a:lnTo>
                  <a:close/>
                </a:path>
              </a:pathLst>
            </a:custGeom>
            <a:solidFill>
              <a:srgbClr val="00B0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414349" y="4050422"/>
            <a:ext cx="5459300" cy="10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DAGapf5LvY4</dc:identifier>
  <dcterms:modified xsi:type="dcterms:W3CDTF">2011-08-01T06:04:30Z</dcterms:modified>
  <cp:revision>1</cp:revision>
  <dc:title>Dryme_Regional-Showcase.pptx</dc:title>
</cp:coreProperties>
</file>